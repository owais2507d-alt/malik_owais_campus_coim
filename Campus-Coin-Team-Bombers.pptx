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>
                <a:solidFill>
                  <a:srgbClr val="1A1200"/>
                </a:solidFill>
                <a:latin typeface="Segoe UI"/>
              </a:rPr>
              <a:t>FULL PROJECT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AFAFA"/>
                </a:solidFill>
                <a:latin typeface="Segoe UI"/>
              </a:rPr>
              <a:t>Campus Coin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BBF24"/>
                </a:solidFill>
                <a:latin typeface="Segoe UI"/>
              </a:rPr>
              <a:t>NextGen BudgetBee — Student Budget Tracker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9300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TEAM BOMBERS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529584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AFAFA"/>
                </a:solidFill>
                <a:latin typeface="Segoe UI"/>
              </a:rPr>
              <a:t>Muhammad Bilawal · Muhammad Owais · Muhammad Esam · Muhammad Muneeb · Syed Haider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A complete MERN-style full-stack app: Next.js 14 client + Express MVC API + MongoDB Atlas + Socket.IO live alerts + AI (Groq / rule-based fallback).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Every controller, model, service, page and feature — described in one deck.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92040"/>
            <a:ext cx="1216152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Next.js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58568" y="4892040"/>
            <a:ext cx="1024128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React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4892040"/>
            <a:ext cx="1408176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Tailwind 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46904" y="4892040"/>
            <a:ext cx="1120140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Express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4892040"/>
            <a:ext cx="1216152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Mongoose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39228" y="4892040"/>
            <a:ext cx="1504188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MongoDB Atlas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71432" y="4892040"/>
            <a:ext cx="1120140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JWT + 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A1A1AA"/>
                </a:solidFill>
                <a:latin typeface="Segoe UI"/>
              </a:rPr>
              <a:t>Client :3000   ·   API :5000   ·   github.com/owais2507d-alt/MAlik_Owais_Campus_Coim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73152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 · TEAM BOMBERS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Meet the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711" y="1463040"/>
            <a:ext cx="2103120" cy="41148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5711" y="146304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30071" y="1783080"/>
            <a:ext cx="914400" cy="914400"/>
          </a:xfrm>
          <a:prstGeom prst="ellipse">
            <a:avLst/>
          </a:prstGeom>
          <a:solidFill>
            <a:srgbClr val="1F1F28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151" y="2880360"/>
            <a:ext cx="19202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AFAFA"/>
                </a:solidFill>
                <a:latin typeface="Segoe UI"/>
              </a:rPr>
              <a:t>MUHAMMAD BILAWAL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" y="34290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1A1200"/>
                </a:solidFill>
                <a:latin typeface="Segoe UI"/>
              </a:rPr>
              <a:t>Project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439" y="3931920"/>
            <a:ext cx="1883663" cy="12799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dirty="0">
                <a:solidFill>
                  <a:srgbClr val="A1A1AA"/>
                </a:solidFill>
                <a:latin typeface="Segoe UI"/>
              </a:rPr>
              <a:t>Backend &amp; database</a:t>
            </a:r>
          </a:p>
          <a:p>
            <a:pPr algn="ctr">
              <a:lnSpc>
                <a:spcPct val="105000"/>
              </a:lnSpc>
            </a:pPr>
            <a:r>
              <a:rPr sz="1050" b="0" dirty="0">
                <a:solidFill>
                  <a:srgbClr val="A1A1AA"/>
                </a:solidFill>
                <a:latin typeface="Segoe UI"/>
              </a:rPr>
              <a:t>API architecture, models,</a:t>
            </a:r>
          </a:p>
          <a:p>
            <a:pPr algn="ctr">
              <a:lnSpc>
                <a:spcPct val="105000"/>
              </a:lnSpc>
            </a:pPr>
            <a:r>
              <a:rPr sz="1050" b="0" dirty="0">
                <a:solidFill>
                  <a:srgbClr val="A1A1AA"/>
                </a:solidFill>
                <a:latin typeface="Segoe UI"/>
              </a:rPr>
              <a:t>seeds &amp; Atlas </a:t>
            </a:r>
            <a:r>
              <a:rPr sz="1050" b="0" dirty="0" smtClean="0">
                <a:solidFill>
                  <a:srgbClr val="A1A1AA"/>
                </a:solidFill>
                <a:latin typeface="Segoe UI"/>
              </a:rPr>
              <a:t>setup</a:t>
            </a:r>
            <a:endParaRPr lang="en-US" sz="1050" b="0" dirty="0" smtClean="0">
              <a:solidFill>
                <a:srgbClr val="A1A1AA"/>
              </a:solidFill>
              <a:latin typeface="Segoe UI"/>
            </a:endParaRPr>
          </a:p>
          <a:p>
            <a:pPr algn="ctr">
              <a:lnSpc>
                <a:spcPct val="105000"/>
              </a:lnSpc>
            </a:pPr>
            <a:r>
              <a:rPr lang="en-US" sz="1050" dirty="0">
                <a:solidFill>
                  <a:srgbClr val="A1A1AA"/>
                </a:solidFill>
                <a:latin typeface="Segoe UI"/>
              </a:rPr>
              <a:t>Categorize, insights,</a:t>
            </a:r>
          </a:p>
          <a:p>
            <a:pPr algn="ctr">
              <a:lnSpc>
                <a:spcPct val="105000"/>
              </a:lnSpc>
            </a:pPr>
            <a:r>
              <a:rPr lang="en-US" sz="1050" dirty="0" err="1">
                <a:solidFill>
                  <a:srgbClr val="A1A1AA"/>
                </a:solidFill>
                <a:latin typeface="Segoe UI"/>
              </a:rPr>
              <a:t>BudgetBee</a:t>
            </a:r>
            <a:r>
              <a:rPr lang="en-US" sz="1050" dirty="0">
                <a:solidFill>
                  <a:srgbClr val="A1A1AA"/>
                </a:solidFill>
                <a:latin typeface="Segoe UI"/>
              </a:rPr>
              <a:t> chat,</a:t>
            </a:r>
          </a:p>
          <a:p>
            <a:pPr algn="ctr">
              <a:lnSpc>
                <a:spcPct val="105000"/>
              </a:lnSpc>
            </a:pPr>
            <a:r>
              <a:rPr lang="en-US" sz="1050" dirty="0">
                <a:solidFill>
                  <a:srgbClr val="A1A1AA"/>
                </a:solidFill>
                <a:latin typeface="Segoe UI"/>
              </a:rPr>
              <a:t>tips engine</a:t>
            </a:r>
          </a:p>
          <a:p>
            <a:pPr algn="ctr">
              <a:lnSpc>
                <a:spcPct val="105000"/>
              </a:lnSpc>
            </a:pPr>
            <a:endParaRPr lang="en-US" sz="1050" b="0" dirty="0" smtClean="0">
              <a:solidFill>
                <a:srgbClr val="A1A1AA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39999" y="1463040"/>
            <a:ext cx="2103120" cy="41148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39999" y="146304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334359" y="1783080"/>
            <a:ext cx="914400" cy="914400"/>
          </a:xfrm>
          <a:prstGeom prst="ellipse">
            <a:avLst/>
          </a:prstGeom>
          <a:solidFill>
            <a:srgbClr val="1F1F28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1439" y="2880360"/>
            <a:ext cx="19202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AFAFA"/>
                </a:solidFill>
                <a:latin typeface="Segoe UI"/>
              </a:rPr>
              <a:t>MUHAMMAD OWAIS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2879" y="34290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1A1200"/>
                </a:solidFill>
                <a:latin typeface="Segoe UI"/>
              </a:rPr>
              <a:t>Full-Stack 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9727" y="3931920"/>
            <a:ext cx="188366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Auth, OTP, admin panel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ngrok tunnel + deployment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GitHub /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3431" y="1641348"/>
            <a:ext cx="2103120" cy="41148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44287" y="146304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638647" y="1783080"/>
            <a:ext cx="914400" cy="914400"/>
          </a:xfrm>
          <a:prstGeom prst="ellipse">
            <a:avLst/>
          </a:prstGeom>
          <a:solidFill>
            <a:srgbClr val="1F1F28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5727" y="2880360"/>
            <a:ext cx="19202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dirty="0" smtClean="0">
                <a:solidFill>
                  <a:srgbClr val="FAFAFA"/>
                </a:solidFill>
                <a:latin typeface="Segoe UI"/>
              </a:rPr>
              <a:t>MUHAMMAD ESAM</a:t>
            </a:r>
            <a:endParaRPr sz="1200" b="1" dirty="0">
              <a:solidFill>
                <a:srgbClr val="FAFAFA"/>
              </a:solidFill>
              <a:latin typeface="Segoe U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227167" y="34290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en-US" sz="1000" b="1" dirty="0" smtClean="0">
                <a:solidFill>
                  <a:srgbClr val="1A1200"/>
                </a:solidFill>
                <a:latin typeface="Segoe UI"/>
              </a:rPr>
              <a:t>Tester</a:t>
            </a:r>
            <a:endParaRPr sz="1000" b="1" dirty="0">
              <a:solidFill>
                <a:srgbClr val="1A1200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54015" y="3931920"/>
            <a:ext cx="1883663" cy="261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1050" b="0" dirty="0" smtClean="0">
                <a:solidFill>
                  <a:srgbClr val="A1A1AA"/>
                </a:solidFill>
                <a:latin typeface="Segoe UI"/>
              </a:rPr>
              <a:t>Testing and Presentation </a:t>
            </a:r>
            <a:endParaRPr sz="1050" b="0" dirty="0">
              <a:solidFill>
                <a:srgbClr val="A1A1AA"/>
              </a:solidFill>
              <a:latin typeface="Segoe U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348575" y="1463040"/>
            <a:ext cx="2103120" cy="41148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48575" y="146304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942935" y="1783080"/>
            <a:ext cx="914400" cy="914400"/>
          </a:xfrm>
          <a:prstGeom prst="ellipse">
            <a:avLst/>
          </a:prstGeom>
          <a:solidFill>
            <a:srgbClr val="1F1F28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0015" y="2880360"/>
            <a:ext cx="19202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AFAFA"/>
                </a:solidFill>
                <a:latin typeface="Segoe UI"/>
              </a:rPr>
              <a:t>MUHAMMAD MUNEEB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31455" y="34290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1A1200"/>
                </a:solidFill>
                <a:latin typeface="Segoe UI"/>
              </a:rPr>
              <a:t>Frontend Dev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8303" y="3931920"/>
            <a:ext cx="188366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dirty="0">
                <a:solidFill>
                  <a:srgbClr val="A1A1AA"/>
                </a:solidFill>
                <a:latin typeface="Segoe UI"/>
              </a:rPr>
              <a:t>Dashboard, reports</a:t>
            </a:r>
          </a:p>
          <a:p>
            <a:pPr algn="ctr">
              <a:lnSpc>
                <a:spcPct val="105000"/>
              </a:lnSpc>
            </a:pPr>
            <a:r>
              <a:rPr sz="1050" b="0" dirty="0">
                <a:solidFill>
                  <a:srgbClr val="A1A1AA"/>
                </a:solidFill>
                <a:latin typeface="Segoe UI"/>
              </a:rPr>
              <a:t>charts, budgets UI,</a:t>
            </a:r>
          </a:p>
          <a:p>
            <a:pPr algn="ctr">
              <a:lnSpc>
                <a:spcPct val="105000"/>
              </a:lnSpc>
            </a:pPr>
            <a:r>
              <a:rPr sz="1050" b="0" dirty="0">
                <a:solidFill>
                  <a:srgbClr val="A1A1AA"/>
                </a:solidFill>
                <a:latin typeface="Segoe UI"/>
              </a:rPr>
              <a:t>dark theme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52863" y="1463040"/>
            <a:ext cx="2103120" cy="41148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52863" y="146304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247223" y="1783080"/>
            <a:ext cx="914400" cy="914400"/>
          </a:xfrm>
          <a:prstGeom prst="ellipse">
            <a:avLst/>
          </a:prstGeom>
          <a:solidFill>
            <a:srgbClr val="1F1F28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44303" y="2880360"/>
            <a:ext cx="19202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AFAFA"/>
                </a:solidFill>
                <a:latin typeface="Segoe UI"/>
              </a:rPr>
              <a:t>SYED HAIDER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35743" y="34290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>
                <a:solidFill>
                  <a:srgbClr val="1A1200"/>
                </a:solidFill>
                <a:latin typeface="Segoe UI"/>
              </a:rPr>
              <a:t>QA &amp; 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2591" y="3931920"/>
            <a:ext cx="188366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Playwright E2E suite,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requirement coverage,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project docs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711" y="5806440"/>
            <a:ext cx="11320272" cy="50292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8591" y="5907024"/>
            <a:ext cx="10954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BBF24"/>
                </a:solidFill>
                <a:latin typeface="Segoe UI"/>
              </a:rPr>
              <a:t>Campus Coin · NextGen BudgetBee — built end-to-end by Team Bombers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What is Campus Coin?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3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520" y="1209040"/>
            <a:ext cx="6543040" cy="4108450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492240" cy="40576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69480" y="1234440"/>
            <a:ext cx="4416552" cy="49377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1417320"/>
            <a:ext cx="3977639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59E0B"/>
                </a:solidFill>
                <a:latin typeface="Segoe UI"/>
              </a:rPr>
              <a:t>🎯  Purpose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Budget / expense tracker built for college &amp; university students — fast income/expense logging, student-relevant categories, per-category monthly budgets with alerts, saving tips, monthly reports with PDF export, and an AI layer.</a:t>
            </a:r>
          </a:p>
          <a:p>
            <a:pPr algn="l">
              <a:lnSpc>
                <a:spcPct val="108000"/>
              </a:lnSpc>
            </a:pPr>
            <a:endParaRPr sz="1150" b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8000"/>
              </a:lnSpc>
            </a:pPr>
            <a:r>
              <a:rPr sz="1500" b="1">
                <a:solidFill>
                  <a:srgbClr val="F59E0B"/>
                </a:solidFill>
                <a:latin typeface="Segoe UI"/>
              </a:rPr>
              <a:t>👥  Two roles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FAFAFA"/>
                </a:solidFill>
                <a:latin typeface="Segoe UI"/>
              </a:rPr>
              <a:t>Student — dashboard, transactions, budgets, reports, tips, AI chat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FAFAFA"/>
                </a:solidFill>
                <a:latin typeface="Segoe UI"/>
              </a:rPr>
              <a:t>Admin — stats, manage users / system categories / announcements</a:t>
            </a:r>
          </a:p>
          <a:p>
            <a:pPr algn="l">
              <a:lnSpc>
                <a:spcPct val="108000"/>
              </a:lnSpc>
            </a:pPr>
            <a:endParaRPr sz="1150" b="0">
              <a:solidFill>
                <a:srgbClr val="FAFAFA"/>
              </a:solidFill>
              <a:latin typeface="Segoe UI"/>
            </a:endParaRPr>
          </a:p>
          <a:p>
            <a:pPr algn="l">
              <a:lnSpc>
                <a:spcPct val="108000"/>
              </a:lnSpc>
            </a:pPr>
            <a:r>
              <a:rPr sz="1500" b="1">
                <a:solidFill>
                  <a:srgbClr val="F59E0B"/>
                </a:solidFill>
                <a:latin typeface="Segoe UI"/>
              </a:rPr>
              <a:t>⚡  Highlights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OTP email registration (dev shows code)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JWT httpOnly cookies, auto refresh on 401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Live budget alerts over WebSocket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AI categorize + monthly insights + chatbot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CSV import, PDF export, dark mode, streaks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System Architecture — How It All Connects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4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32004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417320"/>
            <a:ext cx="2980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3B82F6"/>
                </a:solidFill>
                <a:latin typeface="Segoe UI"/>
              </a:rPr>
              <a:t>BROWSER (Next.js :3000)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709928"/>
            <a:ext cx="298094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App Router pages + route guards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Zustand stores (auth/ui/notifs)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lib/api.js fetch wrapper (cookies)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socket.io-client live events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Tailwind + Framer Motion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8620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320040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3977639"/>
            <a:ext cx="2980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0B981"/>
                </a:solidFill>
                <a:latin typeface="Segoe UI"/>
              </a:rPr>
              <a:t>AI PROVIDERS (optional)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270248"/>
            <a:ext cx="2980944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Groq (llama-3.3-70b) primary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OpenRouter fallback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Local keyword rules always work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Categorize / Insights /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132588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80560" y="1325880"/>
            <a:ext cx="356616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1417320"/>
            <a:ext cx="33467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EXPRESS API (:5000)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1709928"/>
            <a:ext cx="3346704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app.js → CORS → helmet → rate-limit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      → /api/v1 router</a:t>
            </a:r>
          </a:p>
          <a:p>
            <a:pPr algn="l">
              <a:lnSpc>
                <a:spcPct val="105000"/>
              </a:lnSpc>
            </a:pPr>
            <a:endParaRPr sz="1050" b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routes/ (14 files) → validate(Zod)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→ protect / adminOnly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→ controllers/ (11 files)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→ models (Mongoose) + services/</a:t>
            </a:r>
          </a:p>
          <a:p>
            <a:pPr algn="l">
              <a:lnSpc>
                <a:spcPct val="105000"/>
              </a:lnSpc>
            </a:pPr>
            <a:endParaRPr sz="1050" b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socket.io on same HTTP server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rooms: user:{id}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events: notification:new,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budget:updated, tx:created,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announcement:new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325880"/>
            <a:ext cx="2907792" cy="22860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78240" y="1325880"/>
            <a:ext cx="2907792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87967" y="1417320"/>
            <a:ext cx="2688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0B981"/>
                </a:solidFill>
                <a:latin typeface="Segoe UI"/>
              </a:rPr>
              <a:t>MONGODB ATLAS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7" y="1709928"/>
            <a:ext cx="268833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10 models: User, Transaction,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Category, Budget, Tip, Insight,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Notification, Bookmark,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Announcement, PendingReg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Fallback: local → memory server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3886200"/>
            <a:ext cx="2907792" cy="21945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778240" y="3886200"/>
            <a:ext cx="2907792" cy="44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7" y="3977639"/>
            <a:ext cx="2688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43F5E"/>
                </a:solidFill>
                <a:latin typeface="Segoe UI"/>
              </a:rPr>
              <a:t>SEEDS ON BOOT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7" y="4270248"/>
            <a:ext cx="268833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12 system categories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admin@campuscoin.app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demo@campuscoin.app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idempotent (skip if exists)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767328" y="2194560"/>
            <a:ext cx="640080" cy="31089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8110727" y="2194560"/>
            <a:ext cx="603504" cy="31089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3767328" y="4754880"/>
            <a:ext cx="64008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Arrow 31"/>
          <p:cNvSpPr/>
          <p:nvPr/>
        </p:nvSpPr>
        <p:spPr>
          <a:xfrm>
            <a:off x="8110727" y="4754880"/>
            <a:ext cx="603504" cy="310896"/>
          </a:xfrm>
          <a:prstGeom prst="rightArrow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Project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5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server/  — Express ESM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5212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server/src/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app.js  ·  server.js          boot + middleware stack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config/    env · db · socket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routes/    14 files → /api/v1/*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controllers/ 11 *.controller.js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models/    10 Mongoose schemas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services/  tipsEngine · budgetAlerts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       notify · ai/{categorize,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       insight, chat, provider,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       financeContext}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middlewares/ protect · validate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         rateLimit · error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validators/  auth.validators (Zod)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seeds/     categories · users · seed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└─ utils/     apiError · token ·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34440"/>
            <a:ext cx="5376672" cy="50292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B82F6"/>
                </a:solidFill>
                <a:latin typeface="Segoe UI"/>
              </a:rPr>
              <a:t>client/  — Next.js 14 App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50292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client/src/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app/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├─ page.js               landing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├─ (auth)/ login · register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│        forgot/reset-password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└─ (dashboard)/ dashboard,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transactions{,new,import,edit},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budgets · categories · reports,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tips · insights · bookmarks,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profile · admin{,users,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categories,announcements}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components/ layout · ui · auth · ai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store/  auth · ui · notifications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hooks/  useSocket (WS singleton)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└─ lib/    api.js · utils · confetti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Authentication Flow — OTP Register → JWT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6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REQUEST OTP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POST /auth/request-otp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name, email, password,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academicYear, savingsGoal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bcrypt hash (cost 12)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6-digit OTP (sha256)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PendingRegistration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 TTL 10 min, 5 attempts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devOtp returned in dev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91839" y="2743200"/>
            <a:ext cx="320040" cy="256032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66160" y="128016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0332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VERIFY + 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92024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POST /auth/register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email + otp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check expiry/attempts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User.create()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seed 12 categories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set cookies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201 + user + tokens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355080" y="2743200"/>
            <a:ext cx="320040" cy="256032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29400" y="128016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6656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92024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POST /auth/login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isActive check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bcrypt compare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loginStreak (days)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cookies: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accessToken 15m  /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refreshToken 7d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18320" y="2743200"/>
            <a:ext cx="320040" cy="256032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92640" y="128016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82980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REFRESH (auto)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92024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Any 401 in lib/api.js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POST /auth/refresh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(refresh cookie only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 scoped /auth path)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re-issue both JWTs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retry original request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0060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919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SECURITY DETAILS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FAFAFA"/>
                </a:solidFill>
                <a:latin typeface="Segoe UI"/>
              </a:rPr>
              <a:t>Cookies: </a:t>
            </a:r>
            <a:r>
              <a:rPr sz="1150" b="0">
                <a:solidFill>
                  <a:srgbClr val="A1A1AA"/>
                </a:solidFill>
                <a:latin typeface="Segoe UI"/>
              </a:rPr>
              <a:t>httpOnly + sameSite=lax; access token path=/ (15 min), refresh path=/api/v1/auth (7 d) so it never leaks to other routes.</a:t>
            </a:r>
          </a:p>
          <a:p>
            <a:pPr algn="l">
              <a:lnSpc>
                <a:spcPct val="108000"/>
              </a:lnSpc>
            </a:pPr>
            <a:r>
              <a:rPr sz="1150" b="1">
                <a:solidFill>
                  <a:srgbClr val="FAFAFA"/>
                </a:solidFill>
                <a:latin typeface="Segoe UI"/>
              </a:rPr>
              <a:t>Roles: </a:t>
            </a:r>
            <a:r>
              <a:rPr sz="1150" b="0">
                <a:solidFill>
                  <a:srgbClr val="A1A1AA"/>
                </a:solidFill>
                <a:latin typeface="Segoe UI"/>
              </a:rPr>
              <a:t>JWT claim {sub, role, email} → protect middleware → adminOnly = requireRole('admin') guards ALL /admin routes. Client layout also redirects non-admins away from /admin*.</a:t>
            </a:r>
          </a:p>
          <a:p>
            <a:pPr algn="l">
              <a:lnSpc>
                <a:spcPct val="108000"/>
              </a:lnSpc>
            </a:pPr>
            <a:r>
              <a:rPr sz="1150" b="1">
                <a:solidFill>
                  <a:srgbClr val="FAFAFA"/>
                </a:solidFill>
                <a:latin typeface="Segoe UI"/>
              </a:rPr>
              <a:t>Rate limits: </a:t>
            </a:r>
            <a:r>
              <a:rPr sz="1150" b="0">
                <a:solidFill>
                  <a:srgbClr val="A1A1AA"/>
                </a:solidFill>
                <a:latin typeface="Segoe UI"/>
              </a:rPr>
              <a:t>authLimiter 30 req/15 min on auth endpoints · apiLimiter 500 req/15 min on /api · Zod validate() on every body · password reset = sha256 token, 30-min expiry.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Auth Screens — Login &amp; 3-Step OTP Registration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7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520" y="1254760"/>
            <a:ext cx="5628640" cy="3536950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2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577840" cy="34861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29680" y="1254760"/>
            <a:ext cx="5628640" cy="3536950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3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80160"/>
            <a:ext cx="5577840" cy="3486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489204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Login — demo fill buttons, role-based redirect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93792"/>
            <a:ext cx="5577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Student → /dashboard · Admin → /admin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Show/hide password, ?next= deep link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Demo: admin@campuscoin.app / Admin@123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demo@campuscoin.app / Demo@123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89204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B82F6"/>
                </a:solidFill>
                <a:latin typeface="Segoe UI"/>
              </a:rPr>
              <a:t>Register — wizard with 6-box OTP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193792"/>
            <a:ext cx="5577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Step 1 identity → Step 2 OTP → Step 3 money profile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Password strength meter + confetti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OTP shown as devOtp (no SMTP yet)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Optional: allowance, savings goal, currency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API Request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8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3716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HTTP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fetch with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credentials: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'include'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755648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847088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47088" y="1463040"/>
            <a:ext cx="13716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11095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B82F6"/>
                </a:solidFill>
                <a:latin typeface="Segoe UI"/>
              </a:rPr>
              <a:t>CORS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1095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origin allowlist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localhost:3000/3001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credentials:true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36976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328416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28416" y="1463040"/>
            <a:ext cx="13716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92424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helmet +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security headers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1 MB body limit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cookie-parser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718304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09744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09744" y="1463040"/>
            <a:ext cx="13716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73752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B82F6"/>
                </a:solidFill>
                <a:latin typeface="Segoe UI"/>
              </a:rPr>
              <a:t>apiLimiter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500 req / 15 min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429 when exceeded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199631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91072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91072" y="1463040"/>
            <a:ext cx="13716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/api/v1 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route file picks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method + path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680960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772400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0" y="1463040"/>
            <a:ext cx="13716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36408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B82F6"/>
                </a:solidFill>
                <a:latin typeface="Segoe UI"/>
              </a:rPr>
              <a:t>validate(Zod)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6408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schema check →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400 errors[] or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req.body replaced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162288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253728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253728" y="1463040"/>
            <a:ext cx="13716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17736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protect / adminOnly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7736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JWT from cookie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or Bearer header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req.user set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0643616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735056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735056" y="1463040"/>
            <a:ext cx="13716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799064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B82F6"/>
                </a:solidFill>
                <a:latin typeface="Segoe UI"/>
              </a:rPr>
              <a:t>controller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99064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business logic →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Mongoose + services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→ sendSuccess()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3749039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5800" y="38862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0B981"/>
                </a:solidFill>
                <a:latin typeface="Segoe UI"/>
              </a:rPr>
              <a:t>RESPONSE ENVELOPE (utils/response.js)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206240"/>
            <a:ext cx="51206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success:  true | false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message:  "Logged in" | "Invalid email..."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data:     { user, accessToken, ... }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errors:   ["email: Required"]   (Zod)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stack:    shown only in development</a:t>
            </a:r>
          </a:p>
          <a:p>
            <a:pPr algn="l">
              <a:lnSpc>
                <a:spcPct val="105000"/>
              </a:lnSpc>
            </a:pPr>
            <a:endParaRPr sz="115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// controller pattern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return sendSuccess(res, {…}, "OK");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throw ApiError.unauthorized("…");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9632" y="3749039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82512" y="38862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43F5E"/>
                </a:solidFill>
                <a:latin typeface="Segoe UI"/>
              </a:rPr>
              <a:t>ERROR HANDLER (middlewares/error.js)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4206240"/>
            <a:ext cx="51206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Mongoose ValidationError  → 400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CastError (bad ObjectId)  → 400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duplicate key 11000       → 409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ApiError.*                → its status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everything else           → 500</a:t>
            </a:r>
          </a:p>
          <a:p>
            <a:pPr algn="l">
              <a:lnSpc>
                <a:spcPct val="105000"/>
              </a:lnSpc>
            </a:pPr>
            <a:endParaRPr sz="115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// notFound → 404 for unmatched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// logs stack unless NODE_ENV=test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Route Map — All Endpoints (/api/v1)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9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1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582"/>
                <a:gridCol w="8245175"/>
                <a:gridCol w="1516354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Router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Endpoints (method path)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Guard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POST request-otp · register · login · logout · refresh · forgot-password · reset-password · GET me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public / 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users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users · PATCH users · PATCH users/password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categories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· POST · PATCH :id · DELETE :id  (support ?type=income|expense)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transactions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list (filters+page) · POST · GET/:id · PATCH/:id · DELETE/:id · POST import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budgets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(?month) · POST upsert · DELETE :id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dashboard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dashboard  → one aggregated payload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reports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category · trend · daily-weekly · filtered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tips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list · POST refresh · PATCH :id/status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bookmarks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· POST toggle · DELETE :id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notifications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· PATCH read-all · PATCH :id/read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stats/users/categories/announcements · CRUD users, system categories, 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adminOnly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ai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status · insights · insight-stats/:month · POST categorize · categorize-batch · insight/:month · chat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/  (active, latest 10)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Controllers (1/2) — What Each One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10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961"/>
                <a:gridCol w="3299934"/>
                <a:gridCol w="5958215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Controller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Exported handlers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Responsibility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auth.controller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requestOtp, register, login,
logout, refresh, me,
forgotPassword, resetPassword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OTP pending store, bcrypt verify,
loginStreak, setAuthCookies
(access 15m + refresh 7d),
sha256 reset tokens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user.controller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getProfile, updateProfile,
updatePassword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Whitelisted profile fields
(name, year, allowance, goal,
currency, theme, fontSize),
password change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category.controller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list, create, update, delete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User + system defaults merge,
duplicate-name 409, blocks
deleting category used by txs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transaction.controller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list, get, create, update,
delete, importTransactions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Filters + pagination, AI auto-
categorize when no categoryId,
checkBudgetAlerts on expense,
tx:created socket, bulk CSV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BBF24"/>
                </a:solidFill>
                <a:latin typeface="Segoe UI"/>
              </a:rPr>
              <a:t>Pattern: every handler is asyncHandler-wrapped — thrown ApiError bubbles to errorHandler; responses always use sendSuccess/sendError envelope.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Controllers (2/2) — Dashboard, Reports, 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11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91"/>
                <a:gridCol w="3391599"/>
                <a:gridCol w="5683220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Controller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Exported handlers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Responsibility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budget.controller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listBudgets, upsertBudget,
deleteBudget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Per (user, category, month) upsert,
spent% aggregation, budget:updated
socket, notifications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dashboard.controller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getDashboard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Single Promise.all aggregation:
income/expense/balance, topCategory,
recent tx, pinned tips, unread notifs,
budgets w/ %, 180-day trend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report.controller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categoryReport, sixMonthTrend,
dailyWeeklySummary, filteredReport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Donut data, 6-month line, daily +
ISO-week bars, arbitrary filter →
byCategory + totals + transactions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tip.controller / bookmark
/ notification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list, refresh, status; toggle;
list, markRead, markAllRead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tipsEngine.generateTips() recompute,
pin/dismiss, bookmark toggle
(Tip|Insight), unread count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admin.controller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getStats, listUsers, toggle,
resetPwd, deleteUser, CRUD
default categories + 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Platform stats + top categories,
user search/disable/delete,
system category CRUD,
announcement broadcast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Data Model — 10 Mongoose Schemas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12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183111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56"/>
                <a:gridCol w="6049880"/>
                <a:gridCol w="2933275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Key fields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Indexes / notes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User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name, email(uniq), password(bcrypt 12), role student|admin,
academicYear, allowanceBaseline, savingsGoal, currency, theme,
fontSize, isActive, loginStreak, lastLoginAt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email unique;
toSafeJSON() hides password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PendingRegistration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profile copy + otpHash(sha256), otpExpires, attempts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TTL index on otpExpires
(auto-purge 10 min)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userId(null=system), name, type income|expense,
icon, color, isDefault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(userId,type), (userId,name,type)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Transaction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userId, type, amount≥0.01, categoryId, note, date,
isRecurring, recurringDay 1–31, aiSuggested,
userCorrectedCategory, flags[]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(userId,date),
(userId,categoryId,date)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userId, categoryId, month YYYY-MM, limit≥0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UNIQUE (userId,categoryId,month)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Tip / Insight / Bookmark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Tip: title, body, impactScore, status
Insight: month, narrative, flags, meta (AI cache)
Bookmark: refModel Tip|Insight, refId, title, snippet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Insight UNIQUE (user, month)
Bookmark UNIQUE (user, ref)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Notification / Announcement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Notification: userId, type enum, title, message, read
Announcement: title, body, active (global)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(userId, read, createdAt)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Server Services — Tips Engine, Budget Alerts, Notify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13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3657600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365760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💡 tipsEngine.js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32918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generateTips(userId) compares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this month vs last month: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Category spend up &gt;20%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"Food spending up 40%"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impact = rise % (cap 100)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Top spend category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impact = min(90, total/100)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Budget &gt;70% used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impact 85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Savings rate &lt;20% (3 mo)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impact 95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Ranked by impactScore, top 6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upserted by (userId, title);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pinned/dismissed never overwritten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→ GET /tips · POST /tips/refresh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80160"/>
            <a:ext cx="3657600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657600" cy="50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43F5E"/>
                </a:solidFill>
                <a:latin typeface="Segoe UI"/>
              </a:rPr>
              <a:t>🔔 budgetAlerts.js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783080"/>
            <a:ext cx="32918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checkBudgetAlerts(user, cat, date)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runs after every expense create/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update/import: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find budget (cat + month)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aggregate month-to-date spend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pct = spent / limit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emit budget:updated (socket)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pct ≥ 100 → 'Budget exceeded'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level: exceeded (deduped)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pct ≥ 80  → 'Budget warning'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level: warning (regex dedup)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Never throws — logs + returns []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→ fires Notification + toast/badge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502152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3502152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📡 notify.js + socket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783080"/>
            <a:ext cx="31546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notifyUser(id, {type, title,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message}):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Notification.create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emit notification:new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 to room user:{id}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broadcastNotification(…):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insertMany for every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active user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emit to each room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emitToAll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announcement:new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socket.js: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handshake must carry valid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access JWT, else Unauthorized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join user:{userId} room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AI Layer — Categorize · Insights · BudgetBee 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14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59E0B"/>
                </a:solidFill>
                <a:latin typeface="Segoe UI"/>
              </a:rPr>
              <a:t>🏷  aiCategorize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291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Typing a note on New Transaction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debounced POST /ai/categorize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LLM constrained to your real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   category names (temp 0.1, 8s)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fallback: 10 keyword rules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   (cafe→Food, uber→Transport…)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badge "AI suggested"; manual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   edit clears the flag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3B82F6"/>
                </a:solidFill>
                <a:latin typeface="Segoe UI"/>
              </a:rPr>
              <a:t>📊  aiInsight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buildMonthStats() → income,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expense, byCategory, flags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(rises &gt;20%, budget exceeded)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LLM 3–5 sentence narrative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rule-template fallback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cached in Insight (user,month)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GET /ai/insights = 12-mo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   history on Insights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280160"/>
            <a:ext cx="3657600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0B981"/>
                </a:solidFill>
                <a:latin typeface="Segoe UI"/>
              </a:rPr>
              <a:t>🐝  BudgetBee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783080"/>
            <a:ext cx="32918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Floating widget (students only)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POST /ai/chat {message, history}</a:t>
            </a:r>
          </a:p>
          <a:p>
            <a:pPr algn="l">
              <a:lnSpc>
                <a:spcPct val="105000"/>
              </a:lnSpc>
            </a:pPr>
            <a:endParaRPr sz="108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Resolution order: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1) financial intent?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buildFinanceContext():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safe-to-spend, daily burn,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budget rows, goal progress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→ rule verdict FIRST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 (buy/wait/not this month)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→ LLM polishes (fallback: rules)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2) FAQ matcher (9 entries)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3) general LLM + month stats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4) static help text</a:t>
            </a:r>
          </a:p>
          <a:p>
            <a:pPr algn="l">
              <a:lnSpc>
                <a:spcPct val="105000"/>
              </a:lnSpc>
            </a:pPr>
            <a:endParaRPr sz="108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History in localStorage,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source badge on each reply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80160"/>
            <a:ext cx="3502152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43F5E"/>
                </a:solidFill>
                <a:latin typeface="Segoe UI"/>
              </a:rPr>
              <a:t>🔌  provider.js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783080"/>
            <a:ext cx="31546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llmChat(messages, opts):</a:t>
            </a:r>
          </a:p>
          <a:p>
            <a:pPr algn="l">
              <a:lnSpc>
                <a:spcPct val="105000"/>
              </a:lnSpc>
            </a:pPr>
            <a:endParaRPr sz="108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1. Groq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llama-3.3-70b-versatile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(GROQ_API_KEY)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2. OpenRouter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claude-3.5-haiku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(OPENROUTER_API_KEY)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3. throw → callers use rules</a:t>
            </a:r>
          </a:p>
          <a:p>
            <a:pPr algn="l">
              <a:lnSpc>
                <a:spcPct val="105000"/>
              </a:lnSpc>
            </a:pPr>
            <a:endParaRPr sz="108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Status: GET /ai/status →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{groq, openrouter, mode}</a:t>
            </a:r>
          </a:p>
          <a:p>
            <a:pPr algn="l">
              <a:lnSpc>
                <a:spcPct val="105000"/>
              </a:lnSpc>
            </a:pPr>
            <a:endParaRPr sz="108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Current .env has no keys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→ runs rules-only, no crash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Realtime — Socket.IO Event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15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120640" cy="484632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SERVER  →  CLIENT events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920240"/>
          <a:ext cx="4754879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171"/>
                <a:gridCol w="1698171"/>
                <a:gridCol w="1358537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200"/>
                          </a:solidFill>
                          <a:latin typeface="Segoe UI"/>
                        </a:rPr>
                        <a:t>Event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200"/>
                          </a:solidFill>
                          <a:latin typeface="Segoe UI"/>
                        </a:rPr>
                        <a:t>Emitted from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200"/>
                          </a:solidFill>
                          <a:latin typeface="Segoe UI"/>
                        </a:rPr>
                        <a:t>Payload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notification:new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notifyUser / broadcast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Notification doc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budget:updated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budgetAlerts · budget ctrl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{catId, month,
spent, limit, %}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announcement:new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broadcastNotification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{title, message}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tx:created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createTransaction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{id}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4480560"/>
            <a:ext cx="4754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Handshake auth: socket.auth.token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= accessToken (store / sessionStorage)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Invalid → connection rejected.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Rooms: user:{userId} — emitToUser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targets only that user's sockets.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connect() only when logged 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325880"/>
            <a:ext cx="5833872" cy="484632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1463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B82F6"/>
                </a:solidFill>
                <a:latin typeface="Segoe UI"/>
              </a:rPr>
              <a:t>CLIENT  —  useSocket() + stores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74519"/>
            <a:ext cx="5486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hooks/useSocket.js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singleton io(NEXT_PUBLIC_WS_URL)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connects after login with JWT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on notification:new →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notificationStore.pushLive(n)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+ Toaster toast (warning if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  type == budget_alert)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on announcement:new → reload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announcement banner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returns { connected, on, socket }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Topbar live dot = connected state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(breathing emerald indicator)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Notifications store: items (cap 50),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unread badge, mark-all-read API,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60s poll fallback + WS refresh.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Client Pages — Full Route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16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0" cy="487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604"/>
                <a:gridCol w="1558302"/>
                <a:gridCol w="6508204"/>
              </a:tblGrid>
              <a:tr h="34747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Page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Landing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Marketing hero, features, testimonials, visual sitemap tree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/login · /register · /forgot · /reset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OTP wizard, strength meter, dev reset link on screen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/dashboard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Home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Greeting, balance/income/expense cards, budgets vs actual,
recent tx, pinned tips, streak, announcements, confetti on goal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/transactions · /new · /import · /[id]/edit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Transactions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Filterable list; AI live category suggest; CSV map→categorize→import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/budgets · /categories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Money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Progress bars + month picker; personal + system categories CRUD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/reports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Reports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Recharts donut + 6-month line + daily/weekly bars + PDF export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/tips · /insights · /bookmarks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AI &amp; saving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Pin/dismiss tips; monthly narrative + history; saved items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/profile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Account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Edit profile, currency, change password, logout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/admin · /users · /categories · /announcements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Stats, user management, system categories, broadcast 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Dashboard — Student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17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520" y="1209040"/>
            <a:ext cx="7457440" cy="4679950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6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6291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38160" y="1234440"/>
            <a:ext cx="3547872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59E0B"/>
                </a:solidFill>
                <a:latin typeface="Segoe UI"/>
              </a:rPr>
              <a:t>BUILT FROM ONE API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32004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GET /dashboard returns: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time-based greeting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balance / income / expense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top expense category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6 recent transactions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3 pinned tips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10 unread notifications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budgets + spent %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180-day income/expense trend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UI extras: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login streak badge 🔥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announcement banner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confetti when savings goal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  is reached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quick-add action cards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Transactions — List, AI Quick-Add, CSV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18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7-trans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8-new-trans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List — filters, pagination, edit/delete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type / category / date-range / text search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recurring badge, populated category chip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confirm dialogs on delete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PATCH /transactions/:id clears aiSuggested on manual category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B82F6"/>
                </a:solidFill>
                <a:latin typeface="Segoe UI"/>
              </a:rPr>
              <a:t>New — live AI category suggestion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type a note → debounced POST /ai/categorize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honey badge: “AI suggested”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recurring toggle + day of month (1–31)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expense triggers budget alert check + socket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Budgets &amp;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19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9-bud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0-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Budgets — category limits per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unique (user, category, month) upsert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progress bars: green → honey → rose at 80/100%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live % updates via budget:updated socket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confetti when all budgets stay 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0B981"/>
                </a:solidFill>
                <a:latin typeface="Segoe UI"/>
              </a:rPr>
              <a:t>Reports — charts + PDF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donut: category-wise expense for a month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line: 6-month income vs expense trend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bars: daily + weekly summary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Export PDF = html2canvas → jsPDF (client-side)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Saving Tips &amp; AI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20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1-t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2-ins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Tips — ranked by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rule engine compares vs last month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pin / dismiss / bookmark each tip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“Refresh tips” re-runs the engine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impactScore sorts the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B82F6"/>
                </a:solidFill>
                <a:latin typeface="Segoe UI"/>
              </a:rPr>
              <a:t>Insights — monthly narrative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warm 3–5 sentence story of your month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flags: “Food rose 40%”, “budget exceeded”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month picker + 12-month history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regenerate button (force=true)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CSV Import &amp; Category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21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4-csv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3-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CSV Import — PapaParse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upload → map columns → preview table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“AI categorize” = POST /ai/categorize-batch (≤100 rows)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confirm → POST /transactions/import (≤500 rows)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notification reports imported + skipped 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43F5E"/>
                </a:solidFill>
                <a:latin typeface="Segoe UI"/>
              </a:rPr>
              <a:t>Categories — personal + system defaults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12 seeded defaults (5 income / 7 expense)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add custom, edit colors/icons, type filter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delete blocked if transactions reference it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admins manage system defaults at /admin/categories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 · ROLE: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Admin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22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4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5-admin-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43F5E"/>
                </a:solidFill>
                <a:latin typeface="Segoe UI"/>
              </a:rPr>
              <a:t>Overview — /admin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users / transactions / categories counts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7-day active users, top-5 expense categories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AI provider status (groq / openrouter / rules)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recent announcements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Users — /admin/users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search by name/email, pagination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enable / disable account (isActive)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reset password (default Reset@123)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delete non-admin users · AdminSidebar layout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Features — Tier 1 Core (20/20)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23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  Register (OTP, profile, goal)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2  Login — student + admin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3  Secure sessions (JWT cookies)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4  Password recovery / reset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5  Editable user profile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6  Category management (12 seeds)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7  Transaction CRUD + filters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8  Recurring flag (day 1–31)*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9  Dashboard (balance, widgets)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10  Monthly reports (3 chart types)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28016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4630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11  Export PDF / image (jsPDF)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12  Budget goals per category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13  Budget alerts 80% / 100%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14  Saving-tips engine (impact rank)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15  Bookmark tips &amp; insights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16  Admin panel (stats, users, CMS)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17  Dark mode + font-size toggle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18  Breadcrumbs on every page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19  Visual sitemap on homepage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20  Fully responsive (drawer sidebar)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623560"/>
            <a:ext cx="11183112" cy="658368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5742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BBF24"/>
                </a:solidFill>
                <a:latin typeface="Segoe UI"/>
              </a:rPr>
              <a:t>* Recurring is stored &amp; toggleable in the form; no cron clones it monthly yet.  All other Tier-1 features are fully wired end-to-end (API + UI).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Features — Tier 2 Wow &amp; Tier 3 Extras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24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80160"/>
          <a:ext cx="1118311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643"/>
                <a:gridCol w="3299934"/>
                <a:gridCol w="916648"/>
                <a:gridCol w="5774885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How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AI expense categorization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LLM + keyword rules, live suggest, badge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AI monthly insights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Cached Insight narrative + flags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CSV import w/ batch AI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PapaParse → categorize-batch → bulk insert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Next-month forecast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⚡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projectedEomExpense inside chat answers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Duplicate / large detect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flags[] in schema, writer not implemented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27 / 28 / 29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Pin-dismiss tips · insight history · PDF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All live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31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AI chatbot BudgetBee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Context advisor + FAQ + LLM fallback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32 / 33 / 34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Animated charts · confetti · streak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Recharts/Framer · celebrate() · loginStreak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39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Multi-currency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⚡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BDT/USD/EUR/… display + symbols (no FX)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623560"/>
            <a:ext cx="11183112" cy="658368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742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Tier-3 extras not built: PWA, voice input, receipt OCR, auto light/dark by time, gamification badges.  AI works rules-only until GROQ_API_KEY / OPENROUTER_API_KEY is added.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How to Run — Commands, Ports,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25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59E0B"/>
                </a:solidFill>
                <a:latin typeface="Segoe UI"/>
              </a:rPr>
              <a:t>START (two terminals)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51206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# API — port 5000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cd server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npm install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npm run dev          # node --watch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# npm run seed       # optional (runs on boot)</a:t>
            </a:r>
          </a:p>
          <a:p>
            <a:pPr algn="l">
              <a:lnSpc>
                <a:spcPct val="105000"/>
              </a:lnSpc>
            </a:pPr>
            <a:endParaRPr sz="115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# Client — port 3000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cd client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npm install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npm run dev          # next dev</a:t>
            </a:r>
          </a:p>
          <a:p>
            <a:pPr algn="l">
              <a:lnSpc>
                <a:spcPct val="105000"/>
              </a:lnSpc>
            </a:pPr>
            <a:endParaRPr sz="115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# checks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GET :5000/api/v1/health → 200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UI  :3000 → landing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8016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4173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3B82F6"/>
                </a:solidFill>
                <a:latin typeface="Segoe UI"/>
              </a:rPr>
              <a:t>ENV (server/.env)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783080"/>
            <a:ext cx="51206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PORT=5000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NODE_ENV=development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CLIENT_URL=http://localhost:3000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MONGODB_URI=mongodb+srv://…Atlas…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TRY_ATLAS_FIRST=true     → Atlas first,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local → mongodb-memory-server fallback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JWT_ACCESS_SECRET=…   JWT_REFRESH_SECRET=…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GROQ_API_KEY=…   OPENROUTER_API_KEY=…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client/.env.local: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NEXT_PUBLIC_API_URL=http://localhost:5000/api/v1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NEXT_PUBLIC_WS_URL=http://localhost:5000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11183112" cy="169164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7091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DEMO ACCOUNTS (seeded on every boot)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749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🐝  Admin:  </a:t>
            </a:r>
            <a:r>
              <a:rPr sz="1400" b="1">
                <a:solidFill>
                  <a:srgbClr val="FAFAFA"/>
                </a:solidFill>
                <a:latin typeface="Segoe UI"/>
              </a:rPr>
              <a:t>admin@campuscoin.app   /   Admin@123</a:t>
            </a:r>
            <a:r>
              <a:rPr sz="1200" b="0">
                <a:solidFill>
                  <a:srgbClr val="A1A1AA"/>
                </a:solidFill>
                <a:latin typeface="Segoe UI"/>
              </a:rPr>
              <a:t>     → lands on /admin</a:t>
            </a:r>
          </a:p>
          <a:p>
            <a:pPr algn="l">
              <a:lnSpc>
                <a:spcPct val="108000"/>
              </a:lnSpc>
            </a:pPr>
            <a:r>
              <a:rPr sz="1400" b="1">
                <a:solidFill>
                  <a:srgbClr val="3B82F6"/>
                </a:solidFill>
                <a:latin typeface="Segoe UI"/>
              </a:rPr>
              <a:t>🎓  Student:  </a:t>
            </a:r>
            <a:r>
              <a:rPr sz="1400" b="1">
                <a:solidFill>
                  <a:srgbClr val="FAFAFA"/>
                </a:solidFill>
                <a:latin typeface="Segoe UI"/>
              </a:rPr>
              <a:t>demo@campuscoin.app   /   Demo@123</a:t>
            </a:r>
            <a:r>
              <a:rPr sz="1200" b="0">
                <a:solidFill>
                  <a:srgbClr val="A1A1AA"/>
                </a:solidFill>
                <a:latin typeface="Segoe UI"/>
              </a:rPr>
              <a:t>     → lands on /dashboard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Login page has one-click demo fill buttons.  Data persists in MongoDB Atlas (cluster0.wyyaakz).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AFAFA"/>
                </a:solidFill>
                <a:latin typeface="Segoe UI"/>
              </a:rP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TEAM BOMBERS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779776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AFAFA"/>
                </a:solidFill>
                <a:latin typeface="Segoe UI"/>
              </a:rPr>
              <a:t>Bilawal · Owais · Esam · Muneeb · Haider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BBF24"/>
                </a:solidFill>
                <a:latin typeface="Segoe UI"/>
              </a:rPr>
              <a:t>Campus Coin — NextGen BudgetBee is ready to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This deck covered: architecture · every route · all 11 controllers · 10 models · services (tips, alerts, notify) ·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AI layer (categorize / insights / chat) · Socket.IO realtime · 21 client pages · auth (OTP + JWT) ·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Tier 1/2/3 feature status · run instructions.  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3971</Words>
  <Application>Microsoft Office PowerPoint</Application>
  <PresentationFormat>Widescreen</PresentationFormat>
  <Paragraphs>774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MALIK  OWAIS</cp:lastModifiedBy>
  <cp:revision>2</cp:revision>
  <dcterms:created xsi:type="dcterms:W3CDTF">2013-01-27T09:14:16Z</dcterms:created>
  <dcterms:modified xsi:type="dcterms:W3CDTF">2026-09-27T08:29:19Z</dcterms:modified>
  <cp:category/>
</cp:coreProperties>
</file>